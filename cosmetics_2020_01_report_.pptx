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5oKxM6bb3UNF+id+3cNBGjEkO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[발표자 B] 장바구니 이후 행동을 보면 절반이 넘는 54.56%가 제거도 구매도 없이 그냥 종료됩니다. 또 Remove와 Purchase가 함께 나타난 세션도 9.43% 있어서, 장바구니 제거를 곧 구매 포기로 해석하면 안 됩니다.</a:t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46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698480" y="3566160"/>
            <a:ext cx="3108960" cy="3108960"/>
          </a:xfrm>
          <a:prstGeom prst="ellipse">
            <a:avLst/>
          </a:prstGeom>
          <a:solidFill>
            <a:srgbClr val="1B3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COSMETICS  E-COMMERCE  ·  FUNNEL 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04672" y="1783080"/>
            <a:ext cx="10424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화장품 이커머스 고객 행동 로그를 활용한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전환 퍼널 및 장바구니 이탈 분석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2020년 1월 고객 행동 로그 426만 건 분석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5074920"/>
            <a:ext cx="1133856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5074920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185416" y="5074920"/>
            <a:ext cx="1764792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185416" y="507492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Colab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78808" y="5074920"/>
            <a:ext cx="2080260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178808" y="5074920"/>
            <a:ext cx="20802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Funnel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87668" y="5074920"/>
            <a:ext cx="2185416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487668" y="5074920"/>
            <a:ext cx="2185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 Abandonment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46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C3D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86384" y="47548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프로젝트 배경 및 분석 목적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91440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lgun Gothic"/>
              <a:buNone/>
            </a:pPr>
            <a:r>
              <a:rPr b="1" lang="en-US" sz="3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조회가 많다고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lgun Gothic"/>
              <a:buNone/>
            </a:pPr>
            <a:r>
              <a:rPr b="1" lang="en-US" sz="3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구매가 많은 것은 아니다.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66928" y="260604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450"/>
              <a:buFont typeface="Malgun Gothic"/>
              <a:buNone/>
            </a:pPr>
            <a:r>
              <a:rPr lang="en-US" sz="14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쇼핑 고객은 View → Cart → Purchase 과정에서 지속적으로 이탈합니다.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03504" y="3474720"/>
            <a:ext cx="128016" cy="12801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68680" y="335584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과정의 핵심 병목 구간 파악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03504" y="3986784"/>
            <a:ext cx="128016" cy="12801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68680" y="386791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가격대별 구매 전환 차이 분석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3504" y="4498848"/>
            <a:ext cx="128016" cy="12801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68680" y="4379976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장바구니 이후 고객 행동 분석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03504" y="5010912"/>
            <a:ext cx="128016" cy="12801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68680" y="4892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브랜드별 조회 규모와 전환 효율 비교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610856" y="1685006"/>
            <a:ext cx="3977640" cy="2476590"/>
          </a:xfrm>
          <a:prstGeom prst="roundRect">
            <a:avLst>
              <a:gd fmla="val 6667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909560" y="227793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질문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863840" y="1417320"/>
            <a:ext cx="3520440" cy="3328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lang="en-US" sz="2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구매 과정의 어느 단계에서 가장 많이 이탈하는가?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데이터 소개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달, 약 426만 건의 고객 행동 로그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데이터셋: E-commerce Events History in Cosmetics Shop   ·   분석 기간: 2020.01.01 ~ 2020.01.31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66928" y="187452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798064" y="2084832"/>
            <a:ext cx="182880" cy="182880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41248" y="214884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900"/>
              <a:buFont typeface="Malgun Gothic"/>
              <a:buNone/>
            </a:pPr>
            <a:r>
              <a:rPr b="1" lang="en-US" sz="29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4,264,752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41248" y="28803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이벤트 (Events)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401568" y="187452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632704" y="2084832"/>
            <a:ext cx="182880" cy="182880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75888" y="214884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900"/>
              <a:buFont typeface="Malgun Gothic"/>
              <a:buNone/>
            </a:pPr>
            <a:r>
              <a:rPr b="1" lang="en-US" sz="29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410,073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75888" y="28803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고유 사용자 (Users)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236208" y="187452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467344" y="2084832"/>
            <a:ext cx="182880" cy="182880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510528" y="214884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900"/>
              <a:buFont typeface="Malgun Gothic"/>
              <a:buNone/>
            </a:pPr>
            <a:r>
              <a:rPr b="1" lang="en-US" sz="29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965,351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10528" y="28803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고유 세션 (Sessions)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070848" y="187452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1301984" y="2084832"/>
            <a:ext cx="182880" cy="182880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345168" y="214884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900"/>
              <a:buFont typeface="Malgun Gothic"/>
              <a:buNone/>
            </a:pPr>
            <a:r>
              <a:rPr b="1" lang="en-US" sz="29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45,484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345168" y="28803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고유 상품 (Products)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66928" y="3840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행동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66928" y="4187952"/>
            <a:ext cx="896112" cy="457200"/>
          </a:xfrm>
          <a:prstGeom prst="roundRect">
            <a:avLst>
              <a:gd fmla="val 50000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66928" y="4187952"/>
            <a:ext cx="896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645920" y="4187952"/>
            <a:ext cx="896112" cy="457200"/>
          </a:xfrm>
          <a:prstGeom prst="roundRect">
            <a:avLst>
              <a:gd fmla="val 50000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645920" y="4187952"/>
            <a:ext cx="896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724912" y="4187952"/>
            <a:ext cx="2212848" cy="457200"/>
          </a:xfrm>
          <a:prstGeom prst="roundRect">
            <a:avLst>
              <a:gd fmla="val 50000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24912" y="418795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from Cart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20640" y="4187952"/>
            <a:ext cx="1335024" cy="457200"/>
          </a:xfrm>
          <a:prstGeom prst="roundRect">
            <a:avLst>
              <a:gd fmla="val 50000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120640" y="418795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163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22960" y="51389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00"/>
              <a:buFont typeface="Malgun Gothic"/>
              <a:buNone/>
            </a:pPr>
            <a:r>
              <a:rPr b="1" lang="en-US" sz="11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흐름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229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검증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191512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5755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944112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281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퍼널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696712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0807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가격대별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449312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8333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장바구니 이탈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201912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585960" y="544068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데이터 검증 및 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삭제가 아니라, 목적에 맞춘 처리 기준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66928" y="1600200"/>
            <a:ext cx="67665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77240" y="160020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category_code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00400" y="16002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 98.25%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74920" y="1600200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40680" y="160020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분석 제외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6928" y="2386584"/>
            <a:ext cx="67665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77240" y="2386584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brand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400" y="238658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 41.64%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74920" y="2386584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40680" y="2386584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분석으로 활용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6928" y="3172968"/>
            <a:ext cx="67665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77240" y="3172968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user_session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0" y="317296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 0.03%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74920" y="3172968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40680" y="317296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 분석 가능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66928" y="3959352"/>
            <a:ext cx="67665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777240" y="3959352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로그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00400" y="395935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225,100건 · 5.28%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74920" y="3959352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440680" y="395935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일괄 삭제하지 않음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6928" y="4745736"/>
            <a:ext cx="67665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77240" y="4745736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price ≤ 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0" y="474573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7,662건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74920" y="4745736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440680" y="474573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 분석에서만 제외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635240" y="1600200"/>
            <a:ext cx="3977640" cy="3703320"/>
          </a:xfrm>
          <a:prstGeom prst="roundRect">
            <a:avLst>
              <a:gd fmla="val 2469" name="adj"/>
            </a:avLst>
          </a:prstGeom>
          <a:solidFill>
            <a:srgbClr val="16346B"/>
          </a:solidFill>
          <a:ln>
            <a:noFill/>
          </a:ln>
          <a:effectLst>
            <a:outerShdw blurRad="114300" rotWithShape="0" algn="bl" dir="5400000" dist="38100">
              <a:srgbClr val="16346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90956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기준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909560" y="224028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algun Gothic"/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퍼널은 이벤트 수가 아니라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algun Gothic"/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세션별 행동 여부로 계산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909560" y="333756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이벤트의 영향을 줄이기 위해, 각 세션이 View·Cart·Purchase 단계에 도달했는지 여부를 기준으로 전환을 집계했습니다.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전체 고객 행동 현황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행동의 대부분은 조회와 장바구니에서 발생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66928" y="1691640"/>
            <a:ext cx="5074920" cy="621792"/>
          </a:xfrm>
          <a:prstGeom prst="roundRect">
            <a:avLst>
              <a:gd fmla="val 1029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49808" y="1828800"/>
            <a:ext cx="347472" cy="347472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234440" y="1691640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743200" y="169164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2,037,608 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09160" y="1691640"/>
            <a:ext cx="868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47.78%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66928" y="2441448"/>
            <a:ext cx="5074920" cy="621792"/>
          </a:xfrm>
          <a:prstGeom prst="roundRect">
            <a:avLst>
              <a:gd fmla="val 1029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49808" y="2578608"/>
            <a:ext cx="347472" cy="347472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234440" y="2441448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743200" y="244144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1,148,323 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09160" y="2441448"/>
            <a:ext cx="868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26.93%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66928" y="3191256"/>
            <a:ext cx="5074920" cy="621792"/>
          </a:xfrm>
          <a:prstGeom prst="roundRect">
            <a:avLst>
              <a:gd fmla="val 1029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49808" y="3328416"/>
            <a:ext cx="347472" cy="347472"/>
          </a:xfrm>
          <a:prstGeom prst="ellipse">
            <a:avLst/>
          </a:prstGeom>
          <a:solidFill>
            <a:srgbClr val="5B8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234440" y="3191256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743200" y="3191256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815,024 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709160" y="3191256"/>
            <a:ext cx="868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8DE8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5B8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19.11%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66928" y="3941064"/>
            <a:ext cx="5074920" cy="621792"/>
          </a:xfrm>
          <a:prstGeom prst="roundRect">
            <a:avLst>
              <a:gd fmla="val 1029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49808" y="4078224"/>
            <a:ext cx="347472" cy="347472"/>
          </a:xfrm>
          <a:prstGeom prst="ellipse">
            <a:avLst/>
          </a:prstGeom>
          <a:solidFill>
            <a:srgbClr val="163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1234440" y="3941064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743200" y="3941064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400"/>
              <a:buFont typeface="Malgun Gothic"/>
              <a:buNone/>
            </a:pPr>
            <a:r>
              <a:rPr lang="en-US" sz="14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263,797 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709160" y="3941064"/>
            <a:ext cx="868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6.19%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66928" y="4892040"/>
            <a:ext cx="2450592" cy="1005840"/>
          </a:xfrm>
          <a:prstGeom prst="roundRect">
            <a:avLst>
              <a:gd fmla="val 7273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66928" y="5029200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28,220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66928" y="5468112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사용자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191256" y="4892040"/>
            <a:ext cx="2450592" cy="1005840"/>
          </a:xfrm>
          <a:prstGeom prst="roundRect">
            <a:avLst>
              <a:gd fmla="val 7273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191256" y="5029200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32,385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191256" y="5468112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세션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989320" y="5120640"/>
            <a:ext cx="5623560" cy="777240"/>
          </a:xfrm>
          <a:prstGeom prst="roundRect">
            <a:avLst>
              <a:gd fmla="val 9412" name="adj"/>
            </a:avLst>
          </a:prstGeom>
          <a:solidFill>
            <a:srgbClr val="FAFC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217920" y="5120640"/>
            <a:ext cx="5166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 6.19%는 전환율이 아니라 이벤트 구성 비율</a:t>
            </a:r>
            <a:r>
              <a:rPr lang="en-US" sz="12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입니다. 조회·장바구니 단계에 행동이 집중되어 있습니다.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732233"/>
            <a:ext cx="5623560" cy="3164934"/>
          </a:xfrm>
          <a:prstGeom prst="rect">
            <a:avLst/>
          </a:prstGeom>
          <a:noFill/>
          <a:ln cap="flat" cmpd="sng" w="9525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1A2333">
                <a:alpha val="16078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세션 기준 구매 전환 퍼널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259" y="781005"/>
            <a:ext cx="8767482" cy="5844988"/>
          </a:xfrm>
          <a:prstGeom prst="rect">
            <a:avLst/>
          </a:prstGeom>
          <a:noFill/>
          <a:ln cap="flat" cmpd="sng" w="9525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1A2333">
                <a:alpha val="16078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· 가격대별 구매 전환 분석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가격이 오를수록 장바구니 진입은 어려워진다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66928" y="1691640"/>
            <a:ext cx="5098766" cy="378441"/>
          </a:xfrm>
          <a:prstGeom prst="roundRect">
            <a:avLst>
              <a:gd fmla="val 9615" name="adj"/>
            </a:avLst>
          </a:prstGeom>
          <a:solidFill>
            <a:srgbClr val="16346B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31520" y="1691640"/>
            <a:ext cx="1114016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920240" y="1691640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View→Cart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37560" y="1691640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Cart→Purchase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54880" y="1691640"/>
            <a:ext cx="1156863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66928" y="2258568"/>
            <a:ext cx="5098766" cy="378441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31520" y="2258568"/>
            <a:ext cx="1114016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920240" y="2258568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25.79%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337560" y="2258568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16.94%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754880" y="2258568"/>
            <a:ext cx="1156863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4.37%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66928" y="2825496"/>
            <a:ext cx="5098766" cy="378441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31520" y="2825496"/>
            <a:ext cx="1114016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중저가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920240" y="2825496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21.21%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37560" y="2825496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16.27%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54880" y="2825496"/>
            <a:ext cx="1156863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3.45%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66928" y="3392424"/>
            <a:ext cx="5098766" cy="378441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731520" y="3392424"/>
            <a:ext cx="1114016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920240" y="3392424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20.38%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337560" y="3392424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16.08%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754880" y="3392424"/>
            <a:ext cx="1156863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66928" y="3959352"/>
            <a:ext cx="5098766" cy="378441"/>
          </a:xfrm>
          <a:prstGeom prst="roundRect">
            <a:avLst>
              <a:gd fmla="val 9615" name="adj"/>
            </a:avLst>
          </a:prstGeom>
          <a:solidFill>
            <a:srgbClr val="FAFC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31520" y="3959352"/>
            <a:ext cx="1114016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920240" y="3959352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13.61%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337560" y="3959352"/>
            <a:ext cx="1328250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17.88%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754880" y="3959352"/>
            <a:ext cx="1156863" cy="37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66928" y="4892040"/>
            <a:ext cx="5098766" cy="800548"/>
          </a:xfrm>
          <a:prstGeom prst="roundRect">
            <a:avLst>
              <a:gd fmla="val 7273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77240" y="4892040"/>
            <a:ext cx="4713145" cy="8005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 상품의 장벽은 '구매'가 아니라 '장바구니 진입 이전'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View→Cart는 최저(13.61%)지만, Cart→Purchase는 최고(17.88%)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3063" y="1691640"/>
            <a:ext cx="6181297" cy="3692773"/>
          </a:xfrm>
          <a:prstGeom prst="rect">
            <a:avLst/>
          </a:prstGeom>
          <a:noFill/>
          <a:ln cap="flat" cmpd="sng" w="9525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1A2333">
                <a:alpha val="16078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· 장바구니 이후 고객 행동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절반 이상이 아무 행동 없이 종료된다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69707" y="1898724"/>
            <a:ext cx="539496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80019" y="2154756"/>
            <a:ext cx="310896" cy="310896"/>
          </a:xfrm>
          <a:prstGeom prst="ellipse">
            <a:avLst/>
          </a:prstGeom>
          <a:solidFill>
            <a:srgbClr val="163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037219" y="1898724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Malgun Gothic"/>
              <a:buNone/>
            </a:pPr>
            <a:r>
              <a:rPr b="1" lang="en-US" sz="14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후속 행동 없음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917579" y="1898724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2000"/>
              <a:buFont typeface="Malgun Gothic"/>
              <a:buNone/>
            </a:pPr>
            <a:r>
              <a:rPr b="1" lang="en-US" sz="20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54.56%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9707" y="2831412"/>
            <a:ext cx="539496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80019" y="3087444"/>
            <a:ext cx="310896" cy="310896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1037219" y="2831412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Malgun Gothic"/>
              <a:buNone/>
            </a:pPr>
            <a:r>
              <a:rPr b="1" lang="en-US" sz="14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only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917579" y="2831412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2000"/>
              <a:buFont typeface="Malgun Gothic"/>
              <a:buNone/>
            </a:pPr>
            <a:r>
              <a:rPr b="1" lang="en-US" sz="20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32.03%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69707" y="3764100"/>
            <a:ext cx="539496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80019" y="4020132"/>
            <a:ext cx="310896" cy="31089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37219" y="37641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Malgun Gothic"/>
              <a:buNone/>
            </a:pPr>
            <a:r>
              <a:rPr b="1" lang="en-US" sz="14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+ Purchase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917579" y="376410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2000"/>
              <a:buFont typeface="Malgun Gothic"/>
              <a:buNone/>
            </a:pPr>
            <a:r>
              <a:rPr b="1" lang="en-US" sz="20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9.43%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9707" y="4696788"/>
            <a:ext cx="539496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80019" y="4952820"/>
            <a:ext cx="310896" cy="310896"/>
          </a:xfrm>
          <a:prstGeom prst="ellipse">
            <a:avLst/>
          </a:prstGeom>
          <a:solidFill>
            <a:srgbClr val="F592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1037219" y="469678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Malgun Gothic"/>
              <a:buNone/>
            </a:pPr>
            <a:r>
              <a:rPr b="1" lang="en-US" sz="14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 only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917579" y="469678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20B"/>
              </a:buClr>
              <a:buSzPts val="2000"/>
              <a:buFont typeface="Malgun Gothic"/>
              <a:buNone/>
            </a:pPr>
            <a:r>
              <a:rPr b="1" lang="en-US" sz="2000">
                <a:solidFill>
                  <a:srgbClr val="F5920B"/>
                </a:solidFill>
                <a:latin typeface="Malgun Gothic"/>
                <a:ea typeface="Malgun Gothic"/>
                <a:cs typeface="Malgun Gothic"/>
                <a:sym typeface="Malgun Gothic"/>
              </a:rPr>
              <a:t>3.98%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400800" y="5358384"/>
            <a:ext cx="5321808" cy="1188720"/>
          </a:xfrm>
          <a:prstGeom prst="roundRect">
            <a:avLst>
              <a:gd fmla="val 6154" name="adj"/>
            </a:avLst>
          </a:prstGeom>
          <a:solidFill>
            <a:srgbClr val="16346B"/>
          </a:solidFill>
          <a:ln>
            <a:noFill/>
          </a:ln>
          <a:effectLst>
            <a:outerShdw blurRad="114300" rotWithShape="0" algn="bl" dir="5400000" dist="38100">
              <a:srgbClr val="16346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629400" y="5358384"/>
            <a:ext cx="4892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lang="en-US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remove_from_cart = 구매 포기가 아니다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 + Purchase가 9.43% 존재하므로, 장바구니 제거를 모두 구매 포기로 해석하면 안 됩니다.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980" y="1784448"/>
            <a:ext cx="6040038" cy="3349997"/>
          </a:xfrm>
          <a:prstGeom prst="rect">
            <a:avLst/>
          </a:prstGeom>
          <a:noFill/>
          <a:ln cap="flat" cmpd="sng" w="9525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0000">
              <a:srgbClr val="1A2333">
                <a:alpha val="16078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 · 가격대별 장바구니 행동 &amp; 브랜드별 전환 효율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447801" y="861060"/>
            <a:ext cx="3719187" cy="1033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500"/>
              <a:buFont typeface="Malgun Gothic"/>
              <a:buNone/>
            </a:pPr>
            <a:r>
              <a:rPr b="1" lang="en-US" sz="25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 상품은 담으면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500"/>
              <a:buFont typeface="Malgun Gothic"/>
              <a:buNone/>
            </a:pPr>
            <a:r>
              <a:rPr b="1" lang="en-US" sz="25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의도가 강하다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87681" y="2084832"/>
            <a:ext cx="5074920" cy="512064"/>
          </a:xfrm>
          <a:prstGeom prst="roundRect">
            <a:avLst>
              <a:gd fmla="val 8929" name="adj"/>
            </a:avLst>
          </a:prstGeom>
          <a:solidFill>
            <a:srgbClr val="16346B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70561" y="2084832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225041" y="2084832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Remove율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916681" y="2084832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Purchase율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87681" y="2688336"/>
            <a:ext cx="507492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70561" y="2688336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225041" y="2688336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36.93%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916681" y="2688336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16.02%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87681" y="3291840"/>
            <a:ext cx="507492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70561" y="3291840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중저가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225041" y="3291840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36.63%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916681" y="3291840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15.20%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7681" y="3895344"/>
            <a:ext cx="507492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70561" y="3895344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2225041" y="3895344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36.28%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916681" y="3895344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15.16%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87681" y="4498848"/>
            <a:ext cx="5074920" cy="512064"/>
          </a:xfrm>
          <a:prstGeom prst="roundRect">
            <a:avLst>
              <a:gd fmla="val 8929" name="adj"/>
            </a:avLst>
          </a:prstGeom>
          <a:solidFill>
            <a:srgbClr val="FAFC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70561" y="4498848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225041" y="449884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33.81%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916681" y="449884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17.19%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87681" y="5239512"/>
            <a:ext cx="5074920" cy="1005840"/>
          </a:xfrm>
          <a:prstGeom prst="roundRect">
            <a:avLst>
              <a:gd fmla="val 7273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97993" y="5239512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150"/>
              <a:buFont typeface="Malgun Gothic"/>
              <a:buNone/>
            </a:pPr>
            <a:r>
              <a:rPr b="1" lang="en-US" sz="11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 = 진입은 어렵지만 이탈은 가장 적다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일단 담은 고객의 Remove율은 최저, Purchase율은 최고 → 구매 의도가 상대적으로 강함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357770" y="883382"/>
            <a:ext cx="549248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500"/>
              <a:buFont typeface="Malgun Gothic"/>
              <a:buNone/>
            </a:pPr>
            <a:r>
              <a:rPr b="1" lang="en-US" sz="25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≠ 전환 효율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376058" y="1541750"/>
            <a:ext cx="544709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00"/>
              <a:buFont typeface="Malgun Gothic"/>
              <a:buNone/>
            </a:pPr>
            <a:r>
              <a:rPr i="1" lang="en-US" sz="12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전제: 브랜드 정보는 전체 이벤트의 약 58%에서만 확인 → 보조 분석으로 해석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283902" y="2102044"/>
            <a:ext cx="539496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558222" y="2348932"/>
            <a:ext cx="173736" cy="173736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6850830" y="22574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크고 전환 안정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558222" y="261410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runail · irisk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283902" y="3290764"/>
            <a:ext cx="539496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558222" y="3537652"/>
            <a:ext cx="173736" cy="173736"/>
          </a:xfrm>
          <a:prstGeom prst="ellipse">
            <a:avLst/>
          </a:prstGeom>
          <a:solidFill>
            <a:srgbClr val="5B8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850830" y="34462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많지만 전환 낮음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558222" y="380282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8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5B8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jessnail · kapous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83902" y="4479484"/>
            <a:ext cx="5394960" cy="105156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558222" y="4726372"/>
            <a:ext cx="173736" cy="173736"/>
          </a:xfrm>
          <a:prstGeom prst="ellipse">
            <a:avLst/>
          </a:prstGeom>
          <a:solidFill>
            <a:srgbClr val="163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850830" y="46349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250"/>
              <a:buFont typeface="Malgun Gothic"/>
              <a:buNone/>
            </a:pPr>
            <a:r>
              <a:rPr lang="en-US" sz="12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작지만 전환 높음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558222" y="499154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6.25% · benovy 6.19%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355080" y="5724144"/>
            <a:ext cx="5321808" cy="868680"/>
          </a:xfrm>
          <a:prstGeom prst="roundRect">
            <a:avLst>
              <a:gd fmla="val 8421" name="adj"/>
            </a:avLst>
          </a:prstGeom>
          <a:solidFill>
            <a:srgbClr val="FAFCFF"/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583680" y="5724144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150"/>
              <a:buFont typeface="Malgun Gothic"/>
              <a:buNone/>
            </a:pPr>
            <a:r>
              <a:rPr b="1" lang="en-US" sz="11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조회량뿐 아니라 전환율을 함께 평가해야 함. </a:t>
            </a:r>
            <a:r>
              <a:rPr lang="en-US" sz="11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 인기와 실제 구매 전환 효율은 반드시 일치하지 않습니다.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5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786384" y="4023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· 핵심 분석 결과 종합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'이탈'이라도 대응은 달라야 한다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66928" y="1783080"/>
            <a:ext cx="3566160" cy="37947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841248" y="2057400"/>
            <a:ext cx="566928" cy="566928"/>
          </a:xfrm>
          <a:prstGeom prst="ellipse">
            <a:avLst/>
          </a:prstGeom>
          <a:solidFill>
            <a:srgbClr val="2E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841248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41248" y="2788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 → Cart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841248" y="32918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13.61%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841248" y="4160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50"/>
              <a:buFont typeface="Malgun Gothic"/>
              <a:buNone/>
            </a:pPr>
            <a:r>
              <a:rPr lang="en-US" sz="13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고가 상품 진입 장벽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0"/>
          <p:cNvCxnSpPr/>
          <p:nvPr/>
        </p:nvCxnSpPr>
        <p:spPr>
          <a:xfrm>
            <a:off x="841248" y="466344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0"/>
          <p:cNvSpPr/>
          <p:nvPr/>
        </p:nvSpPr>
        <p:spPr>
          <a:xfrm>
            <a:off x="841248" y="47548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6BE0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2E6BE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가치 설득 필요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352544" y="1783080"/>
            <a:ext cx="3566160" cy="37947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626864" y="2057400"/>
            <a:ext cx="566928" cy="566928"/>
          </a:xfrm>
          <a:prstGeom prst="ellipse">
            <a:avLst/>
          </a:prstGeom>
          <a:solidFill>
            <a:srgbClr val="163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626864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626864" y="2788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 → Purchase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626864" y="32918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85.82%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626864" y="4160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50"/>
              <a:buFont typeface="Malgun Gothic"/>
              <a:buNone/>
            </a:pPr>
            <a:r>
              <a:rPr lang="en-US" sz="13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퍼널 최대 이탈률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0"/>
          <p:cNvCxnSpPr/>
          <p:nvPr/>
        </p:nvCxnSpPr>
        <p:spPr>
          <a:xfrm>
            <a:off x="4626864" y="466344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0"/>
          <p:cNvSpPr/>
          <p:nvPr/>
        </p:nvSpPr>
        <p:spPr>
          <a:xfrm>
            <a:off x="4626864" y="47548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346B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163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장바구니 이후 전환 관리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138160" y="1783080"/>
            <a:ext cx="3566160" cy="37947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6B7688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8412480" y="2057400"/>
            <a:ext cx="566928" cy="566928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412480" y="2057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Cart 이후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412480" y="32918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54.56%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412480" y="4160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350"/>
              <a:buFont typeface="Malgun Gothic"/>
              <a:buNone/>
            </a:pPr>
            <a:r>
              <a:rPr lang="en-US" sz="135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후속 행동 없이 종료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0"/>
          <p:cNvCxnSpPr/>
          <p:nvPr/>
        </p:nvCxnSpPr>
        <p:spPr>
          <a:xfrm>
            <a:off x="8412480" y="466344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D5E3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0"/>
          <p:cNvSpPr/>
          <p:nvPr/>
        </p:nvSpPr>
        <p:spPr>
          <a:xfrm>
            <a:off x="8412480" y="47548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56C4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2456C4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1" lang="en-US" sz="1350">
                <a:solidFill>
                  <a:srgbClr val="1A2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넓은 장바구니 이탈 관리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46B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C3D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86384" y="47548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11 · K-뷰티 적용 시사점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algun Gothic"/>
              <a:buNone/>
            </a:pPr>
            <a:r>
              <a:rPr b="1" lang="en-US" sz="3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유입보다 '전환'이 성장의 열쇠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66928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150"/>
              <a:buFont typeface="Malgun Gothic"/>
              <a:buNone/>
            </a:pPr>
            <a:r>
              <a:rPr i="1" lang="en-US" sz="115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전제: 본 데이터는 K-뷰티 전용 데이터가 아니며, 화장품 이커머스 행동 패턴을 K-뷰티에 확장한 적용 가설입니다.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66928" y="192024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841248" y="2121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 프리미엄 상품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41248" y="2633472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성분·효능·실사용 리뷰·사용법·Before/After·피부 고민별 추천 등 가격을 납득할 근거 강화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181344" y="192024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6455664" y="2121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 장바구니 이후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455664" y="2633472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배송비·배송기간 사전 고지, 무료배송 기준, 리마인더, 첫 구매 혜택, 리뷰·정품 보증 등 신뢰 요소 강화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66928" y="388620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841248" y="40873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 가격대별 전략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41248" y="4599432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저가 = 미니·트라이얼·입문 세트  /  고가 = 효능·프리미엄 가치 중심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181344" y="388620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C3D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6455664" y="40873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lang="en-US" sz="1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 성과 평가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455664" y="4599432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조회량만 보지 않고 View→Cart→Purchase 전환율을 함께 평가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6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46B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9144000" y="3291840"/>
            <a:ext cx="4937760" cy="4937760"/>
          </a:xfrm>
          <a:prstGeom prst="ellipse">
            <a:avLst/>
          </a:prstGeom>
          <a:solidFill>
            <a:srgbClr val="245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-1280160" y="-1645920"/>
            <a:ext cx="3840480" cy="3840480"/>
          </a:xfrm>
          <a:prstGeom prst="ellipse">
            <a:avLst/>
          </a:prstGeom>
          <a:solidFill>
            <a:srgbClr val="1B3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822960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lgun Gothic"/>
              <a:buNone/>
            </a:pPr>
            <a:r>
              <a:rPr b="1" lang="en-US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41248" y="342900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3D9F6"/>
              </a:buClr>
              <a:buSzPts val="1600"/>
              <a:buFont typeface="Malgun Gothic"/>
              <a:buNone/>
            </a:pPr>
            <a:r>
              <a:rPr lang="en-US" sz="1600">
                <a:solidFill>
                  <a:srgbClr val="C3D9F6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많이 노출되는 것보다, 유입된 고객을 실제 구매까지 전환시키는 것이 핵심입니다.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2026-08-13T02:24:31Z</dcterms:created>
  <dc:creator>Team</dc:creator>
</cp:coreProperties>
</file>